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4384000" cy="13716000"/>
  <p:notesSz cx="13716000" cy="24384000"/>
  <p:embeddedFontLst>
    <p:embeddedFont>
      <p:font typeface="Liter" panose="02010600030101010101" charset="0"/>
      <p:regular r:id="rId13"/>
    </p:embeddedFont>
    <p:embeddedFont>
      <p:font typeface="Quattrocento Sans" panose="020B0502050000020003" pitchFamily="34" charset="0"/>
      <p:regular r:id="rId1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389" autoAdjust="0"/>
  </p:normalViewPr>
  <p:slideViewPr>
    <p:cSldViewPr snapToGrid="0" snapToObjects="1">
      <p:cViewPr>
        <p:scale>
          <a:sx n="66" d="100"/>
          <a:sy n="66" d="100"/>
        </p:scale>
        <p:origin x="117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496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本次实验不是简单训练一个分类器，而是理解在真实移动安全任务中，恶意软件检测不仅要给出标签，还要解释为什么恶意、依据是什么、哪些行为支持这个结论。我们借鉴 MARS </a:t>
            </a:r>
            <a:r>
              <a:rPr lang="en-US" dirty="0" err="1"/>
              <a:t>的思路，完成一个轻量级的</a:t>
            </a:r>
            <a:r>
              <a:rPr lang="en-US" dirty="0"/>
              <a:t> RAG </a:t>
            </a:r>
            <a:r>
              <a:rPr lang="en-US" dirty="0" err="1"/>
              <a:t>增强恶意软件分析流程</a:t>
            </a:r>
            <a:r>
              <a:rPr lang="en-US" dirty="0"/>
              <a:t>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实验数据可以来自 Kaggle 的 Android malware </a:t>
            </a:r>
            <a:r>
              <a:rPr lang="en-US" dirty="0" err="1"/>
              <a:t>dataset，也可以使用教师提前处理好的子集。不建议直接处理</a:t>
            </a:r>
            <a:r>
              <a:rPr lang="en-US" dirty="0"/>
              <a:t> APK 逆向全过程，而是使用已经抽取好的特征表，例如权限、API、网络流量、行为标签等。这样可以把实验重点放在建模和分析上。关注类别不平衡问题，这是恶意软件检测中的常见挑战。</a:t>
            </a:r>
          </a:p>
          <a:p>
            <a:endParaRPr lang="en-US" dirty="0"/>
          </a:p>
          <a:p>
            <a:r>
              <a:rPr lang="en-US" dirty="0"/>
              <a:t>Android malware dataset (</a:t>
            </a:r>
            <a:r>
              <a:rPr lang="en-US" dirty="0" err="1"/>
              <a:t>CICMalDroid</a:t>
            </a:r>
            <a:r>
              <a:rPr lang="en-US" dirty="0"/>
              <a:t> 2020).</a:t>
            </a:r>
            <a:r>
              <a:rPr lang="zh-CN" altLang="en-US" dirty="0"/>
              <a:t> </a:t>
            </a:r>
            <a:r>
              <a:rPr lang="en-US" dirty="0"/>
              <a:t>https://www.unb.ca//cic/datasets/maldroid-2020.html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 Malware Detection. https://www.kaggle.com/ datasets/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subhajournal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/android-malware-detection/data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Few-shot</a:t>
            </a:r>
            <a:r>
              <a:rPr lang="en-US" dirty="0"/>
              <a:t> </a:t>
            </a:r>
            <a:r>
              <a:rPr lang="en-US" dirty="0" err="1"/>
              <a:t>的一个关键思想是，不是样本越多越好，而是代表性样本更重要。可以比较随机选择和</a:t>
            </a:r>
            <a:r>
              <a:rPr lang="en-US" dirty="0"/>
              <a:t> core-set 选择的差异。即使不实现复杂算法，也可以用简单距离方法，例如基于特征向量计算样本到中心点的距离，选择更有代表性的样本。思考：为什么 core-set 可能更好？因为它覆盖了更大的特征空间。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的核心不是让 LLM </a:t>
            </a:r>
            <a:r>
              <a:rPr lang="en-US" dirty="0" err="1"/>
              <a:t>自由发挥，而是给它可以参考的外部知识。这里</a:t>
            </a:r>
            <a:r>
              <a:rPr lang="zh-CN" altLang="en-US" dirty="0"/>
              <a:t>需要</a:t>
            </a:r>
            <a:r>
              <a:rPr lang="en-US" dirty="0"/>
              <a:t>构建一个小型安全规则库。例如，发送短信、读取联系人、后台联网、加密文件、频繁弹窗等行为可以对应不同恶意行为类别。规则不需要特别复杂，但必须能解释检测结果。强调规则的可解释性是关键。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这一页讲实验的核心流程。对于一个待分析样本，先把它的关键特征转成 query，然后从规则库中检索相关规则，再把规则和样本特征一起交给 LLM。要求 LLM 输出结构化结果，包括预测标签、依据特征、检索规则、推理过程和置信度。可以用 LangChain 实现 RAG 流程，FAISS 做向量检索。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这次实验不要只做分类。可以从多个角度分析同一批样本。例如，基础组做二分类，进阶组做家族识别，高阶组做多标签行为识别或解释性分析</a:t>
            </a:r>
            <a:r>
              <a:rPr lang="zh-CN" altLang="en-US" dirty="0"/>
              <a:t>，</a:t>
            </a:r>
            <a:r>
              <a:rPr lang="en-US" dirty="0" err="1"/>
              <a:t>能体现实验的开放性。必做分类或多标签识别，选做行为解释、家族归因、规则优化、错误案例分析</a:t>
            </a:r>
            <a:r>
              <a:rPr lang="en-US" dirty="0"/>
              <a:t>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实验设计要体现"</a:t>
            </a:r>
            <a:r>
              <a:rPr lang="en-US" dirty="0" err="1"/>
              <a:t>为什么这个方法有效</a:t>
            </a:r>
            <a:r>
              <a:rPr lang="en-US" dirty="0"/>
              <a:t>"。</a:t>
            </a:r>
            <a:r>
              <a:rPr lang="en-US" dirty="0" err="1"/>
              <a:t>比如比较传统机器学习、直接问</a:t>
            </a:r>
            <a:r>
              <a:rPr lang="en-US" dirty="0"/>
              <a:t> LLM、加入规则检索、加入 core-set 之后的变化。这样才能说明 RAG 和知识规则到底有没有帮助。进阶组可以加入 Core-set vs Random、With rules vs Without rules 的对比。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评分不只看准确率，也看实验设计是否完整、规则是否合理、结果分析是否充分、报告是否能解释失败原因。强调错误案例分析的重要性</a:t>
            </a:r>
            <a:r>
              <a:rPr lang="en-US" dirty="0"/>
              <a:t>——从失败中学到的东西往往比成功更多。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FFFFFF"/>
            </a:gs>
            <a:gs pos="50000">
              <a:srgbClr val="EAF4FF"/>
            </a:gs>
            <a:gs pos="100000">
              <a:srgbClr val="C7E2FF"/>
            </a:gs>
          </a:gsLst>
          <a:path path="circl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2032361"/>
            <a:ext cx="216408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249680" y="10287000"/>
            <a:ext cx="5695061" cy="1030605"/>
          </a:xfrm>
          <a:prstGeom prst="rect">
            <a:avLst/>
          </a:prstGeom>
          <a:solidFill>
            <a:srgbClr val="7EC8E3"/>
          </a:solidFill>
          <a:ln/>
        </p:spPr>
      </p:sp>
      <p:sp>
        <p:nvSpPr>
          <p:cNvPr id="6" name="Shape 4"/>
          <p:cNvSpPr/>
          <p:nvPr/>
        </p:nvSpPr>
        <p:spPr>
          <a:xfrm>
            <a:off x="1249680" y="10287000"/>
            <a:ext cx="230124" cy="1030605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7" name="Text 5"/>
          <p:cNvSpPr/>
          <p:nvPr/>
        </p:nvSpPr>
        <p:spPr>
          <a:xfrm>
            <a:off x="1249680" y="3556000"/>
            <a:ext cx="2188464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kern="0" spc="600" dirty="0" err="1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</a:t>
            </a:r>
            <a:r>
              <a:rPr lang="zh-CN" altLang="en-US" sz="8000" kern="0" spc="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神经网络</a:t>
            </a:r>
            <a:r>
              <a:rPr lang="en-US" altLang="zh-CN" sz="8000" kern="0" spc="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/LLM </a:t>
            </a:r>
            <a:r>
              <a:rPr lang="zh-CN" altLang="en-US" sz="8000" kern="0" spc="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的</a:t>
            </a:r>
            <a:r>
              <a:rPr lang="en-US" sz="8000" kern="0" spc="600" dirty="0" err="1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恶意软件分析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49680" y="2286000"/>
            <a:ext cx="2188464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kern="0" spc="4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NN OR LLM FOR ANDROID MALWARE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4820" y="10414000"/>
            <a:ext cx="5092954" cy="846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白裕德 2026.05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49680" y="12219940"/>
            <a:ext cx="10160000" cy="631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kern="0" spc="400" dirty="0" err="1">
                <a:solidFill>
                  <a:srgbClr val="737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网络安全专业实验课程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rgbClr val="FFFFFF"/>
            </a:gs>
            <a:gs pos="50000">
              <a:srgbClr val="EAF4FF"/>
            </a:gs>
            <a:gs pos="100000">
              <a:srgbClr val="C7E2FF"/>
            </a:gs>
          </a:gsLst>
          <a:path path="circl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70000" y="1524000"/>
            <a:ext cx="3306826" cy="1199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34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 目录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1482090"/>
            <a:ext cx="12489942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49680" y="4064000"/>
            <a:ext cx="2085213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flipV="1">
            <a:off x="1371600" y="5715000"/>
            <a:ext cx="4315079" cy="0"/>
          </a:xfrm>
          <a:prstGeom prst="line">
            <a:avLst/>
          </a:prstGeom>
          <a:noFill/>
          <a:ln w="19050">
            <a:solidFill>
              <a:srgbClr val="004AA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249680" y="5969000"/>
            <a:ext cx="4558919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实验课目标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49680" y="7366000"/>
            <a:ext cx="455891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37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从检测到解释的转变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2496" y="4064000"/>
            <a:ext cx="2085213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flipV="1">
            <a:off x="6884416" y="5715000"/>
            <a:ext cx="4315079" cy="0"/>
          </a:xfrm>
          <a:prstGeom prst="line">
            <a:avLst/>
          </a:prstGeom>
          <a:noFill/>
          <a:ln w="19050">
            <a:solidFill>
              <a:srgbClr val="004AAD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6762496" y="5969000"/>
            <a:ext cx="4558919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数据与少样本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2496" y="7366000"/>
            <a:ext cx="455891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37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数据探索与样本选择方法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75312" y="4064000"/>
            <a:ext cx="2085213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flipV="1">
            <a:off x="12397232" y="5715000"/>
            <a:ext cx="4315079" cy="0"/>
          </a:xfrm>
          <a:prstGeom prst="line">
            <a:avLst/>
          </a:prstGeom>
          <a:noFill/>
          <a:ln w="19050">
            <a:solidFill>
              <a:srgbClr val="004AAD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275312" y="5969000"/>
            <a:ext cx="4558919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altLang="zh-CN" sz="4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NN </a:t>
            </a:r>
            <a:r>
              <a:rPr lang="en-US" sz="4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 RAG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275312" y="7366000"/>
            <a:ext cx="455891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737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网络设计</a:t>
            </a:r>
            <a:r>
              <a:rPr lang="en-US" sz="2400" dirty="0" err="1">
                <a:solidFill>
                  <a:srgbClr val="737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与增强推理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788001" y="4064000"/>
            <a:ext cx="2085213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flipV="1">
            <a:off x="17909921" y="5715000"/>
            <a:ext cx="4315079" cy="0"/>
          </a:xfrm>
          <a:prstGeom prst="line">
            <a:avLst/>
          </a:prstGeom>
          <a:noFill/>
          <a:ln w="19050">
            <a:solidFill>
              <a:srgbClr val="004AAD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7788001" y="5969000"/>
            <a:ext cx="4558919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任务与报告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788001" y="7366000"/>
            <a:ext cx="455891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373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多样化任务与实验报告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C7E2FF"/>
            </a:gs>
            <a:gs pos="50000">
              <a:srgbClr val="EAF4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21080" y="800989"/>
            <a:ext cx="11030712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EXPERIMENT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8158841" y="800989"/>
            <a:ext cx="5204079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9680" y="1524000"/>
            <a:ext cx="1143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 OBJECTIVES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1249680" y="2730500"/>
            <a:ext cx="8890000" cy="0"/>
          </a:xfrm>
          <a:prstGeom prst="line">
            <a:avLst/>
          </a:prstGeom>
          <a:noFill/>
          <a:ln w="19050">
            <a:solidFill>
              <a:srgbClr val="004AA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249680" y="2857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4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实验课目标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348359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85077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0" name="Shape 7"/>
          <p:cNvSpPr/>
          <p:nvPr/>
        </p:nvSpPr>
        <p:spPr>
          <a:xfrm rot="5400000">
            <a:off x="2353056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1" name="Shape 8"/>
          <p:cNvSpPr/>
          <p:nvPr/>
        </p:nvSpPr>
        <p:spPr>
          <a:xfrm rot="5400000">
            <a:off x="285534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2" name="Shape 9"/>
          <p:cNvSpPr/>
          <p:nvPr/>
        </p:nvSpPr>
        <p:spPr>
          <a:xfrm rot="5400000">
            <a:off x="3357753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3" name="Shape 10"/>
          <p:cNvSpPr/>
          <p:nvPr/>
        </p:nvSpPr>
        <p:spPr>
          <a:xfrm rot="5400000">
            <a:off x="3860038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4" name="Shape 11"/>
          <p:cNvSpPr/>
          <p:nvPr/>
        </p:nvSpPr>
        <p:spPr>
          <a:xfrm>
            <a:off x="1371600" y="4699000"/>
            <a:ext cx="10668000" cy="1524000"/>
          </a:xfrm>
          <a:prstGeom prst="rect">
            <a:avLst/>
          </a:prstGeom>
          <a:solidFill>
            <a:srgbClr val="7EC8E3"/>
          </a:solidFill>
          <a:ln/>
        </p:spPr>
      </p:sp>
      <p:sp>
        <p:nvSpPr>
          <p:cNvPr id="15" name="Shape 12"/>
          <p:cNvSpPr/>
          <p:nvPr/>
        </p:nvSpPr>
        <p:spPr>
          <a:xfrm>
            <a:off x="1371600" y="4699000"/>
            <a:ext cx="190500" cy="1524000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16" name="Shape 13"/>
          <p:cNvSpPr/>
          <p:nvPr/>
        </p:nvSpPr>
        <p:spPr>
          <a:xfrm>
            <a:off x="1778000" y="5016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515937" y="257969"/>
                </a:moveTo>
                <a:cubicBezTo>
                  <a:pt x="515937" y="314896"/>
                  <a:pt x="497458" y="367481"/>
                  <a:pt x="466328" y="410146"/>
                </a:cubicBezTo>
                <a:lnTo>
                  <a:pt x="623342" y="567283"/>
                </a:lnTo>
                <a:cubicBezTo>
                  <a:pt x="638845" y="582786"/>
                  <a:pt x="638845" y="607963"/>
                  <a:pt x="623342" y="623466"/>
                </a:cubicBezTo>
                <a:cubicBezTo>
                  <a:pt x="607839" y="638969"/>
                  <a:pt x="582662" y="638969"/>
                  <a:pt x="567159" y="623466"/>
                </a:cubicBezTo>
                <a:lnTo>
                  <a:pt x="410146" y="466328"/>
                </a:lnTo>
                <a:cubicBezTo>
                  <a:pt x="367481" y="497458"/>
                  <a:pt x="314896" y="515937"/>
                  <a:pt x="257969" y="515937"/>
                </a:cubicBezTo>
                <a:cubicBezTo>
                  <a:pt x="115466" y="515937"/>
                  <a:pt x="0" y="400472"/>
                  <a:pt x="0" y="257969"/>
                </a:cubicBezTo>
                <a:cubicBezTo>
                  <a:pt x="0" y="115466"/>
                  <a:pt x="115466" y="0"/>
                  <a:pt x="257969" y="0"/>
                </a:cubicBezTo>
                <a:cubicBezTo>
                  <a:pt x="400472" y="0"/>
                  <a:pt x="515937" y="115466"/>
                  <a:pt x="515937" y="257969"/>
                </a:cubicBezTo>
                <a:close/>
                <a:moveTo>
                  <a:pt x="257969" y="436563"/>
                </a:moveTo>
                <a:cubicBezTo>
                  <a:pt x="356537" y="436563"/>
                  <a:pt x="436563" y="356537"/>
                  <a:pt x="436563" y="257969"/>
                </a:cubicBezTo>
                <a:cubicBezTo>
                  <a:pt x="436563" y="159400"/>
                  <a:pt x="356537" y="79375"/>
                  <a:pt x="257969" y="79375"/>
                </a:cubicBezTo>
                <a:cubicBezTo>
                  <a:pt x="159400" y="79375"/>
                  <a:pt x="79375" y="159400"/>
                  <a:pt x="79375" y="257969"/>
                </a:cubicBezTo>
                <a:cubicBezTo>
                  <a:pt x="79375" y="356537"/>
                  <a:pt x="159400" y="436563"/>
                  <a:pt x="257969" y="436563"/>
                </a:cubicBezTo>
                <a:close/>
              </a:path>
            </a:pathLst>
          </a:custGeom>
          <a:solidFill>
            <a:srgbClr val="004AAD"/>
          </a:solidFill>
          <a:ln/>
        </p:spPr>
      </p:sp>
      <p:sp>
        <p:nvSpPr>
          <p:cNvPr id="17" name="Text 14"/>
          <p:cNvSpPr/>
          <p:nvPr/>
        </p:nvSpPr>
        <p:spPr>
          <a:xfrm>
            <a:off x="2667000" y="48895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从"检测"走向"解释"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667000" y="55245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不仅给出恶意/</a:t>
            </a:r>
            <a:r>
              <a:rPr lang="en-US" sz="2200" dirty="0" err="1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良性标签，还要</a:t>
            </a:r>
            <a:r>
              <a:rPr lang="zh-CN" alt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尝试</a:t>
            </a:r>
            <a:r>
              <a:rPr lang="en-US" sz="2200" dirty="0" err="1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解释为什么恶意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371600" y="6477000"/>
            <a:ext cx="10668000" cy="1524000"/>
          </a:xfrm>
          <a:prstGeom prst="rect">
            <a:avLst/>
          </a:prstGeom>
          <a:solidFill>
            <a:srgbClr val="BFE4FF"/>
          </a:solidFill>
          <a:ln/>
        </p:spPr>
      </p:sp>
      <p:sp>
        <p:nvSpPr>
          <p:cNvPr id="20" name="Shape 17"/>
          <p:cNvSpPr/>
          <p:nvPr/>
        </p:nvSpPr>
        <p:spPr>
          <a:xfrm>
            <a:off x="1371600" y="6477000"/>
            <a:ext cx="190500" cy="1524000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21" name="Shape 18"/>
          <p:cNvSpPr/>
          <p:nvPr/>
        </p:nvSpPr>
        <p:spPr>
          <a:xfrm>
            <a:off x="1817688" y="67945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555625" y="255240"/>
                </a:moveTo>
                <a:cubicBezTo>
                  <a:pt x="537270" y="267395"/>
                  <a:pt x="516186" y="277192"/>
                  <a:pt x="494233" y="285006"/>
                </a:cubicBezTo>
                <a:cubicBezTo>
                  <a:pt x="435942" y="305842"/>
                  <a:pt x="359420" y="317500"/>
                  <a:pt x="277813" y="317500"/>
                </a:cubicBezTo>
                <a:cubicBezTo>
                  <a:pt x="196205" y="317500"/>
                  <a:pt x="119559" y="305718"/>
                  <a:pt x="61392" y="285006"/>
                </a:cubicBezTo>
                <a:cubicBezTo>
                  <a:pt x="39563" y="277192"/>
                  <a:pt x="18355" y="267395"/>
                  <a:pt x="0" y="255240"/>
                </a:cubicBezTo>
                <a:lnTo>
                  <a:pt x="0" y="357188"/>
                </a:lnTo>
                <a:cubicBezTo>
                  <a:pt x="0" y="412006"/>
                  <a:pt x="124396" y="456406"/>
                  <a:pt x="277813" y="456406"/>
                </a:cubicBezTo>
                <a:cubicBezTo>
                  <a:pt x="431229" y="456406"/>
                  <a:pt x="555625" y="412006"/>
                  <a:pt x="555625" y="357188"/>
                </a:cubicBezTo>
                <a:lnTo>
                  <a:pt x="555625" y="255240"/>
                </a:lnTo>
                <a:close/>
                <a:moveTo>
                  <a:pt x="555625" y="158750"/>
                </a:moveTo>
                <a:lnTo>
                  <a:pt x="555625" y="99219"/>
                </a:lnTo>
                <a:cubicBezTo>
                  <a:pt x="555625" y="44400"/>
                  <a:pt x="431229" y="0"/>
                  <a:pt x="277813" y="0"/>
                </a:cubicBezTo>
                <a:cubicBezTo>
                  <a:pt x="124396" y="0"/>
                  <a:pt x="0" y="44400"/>
                  <a:pt x="0" y="99219"/>
                </a:cubicBezTo>
                <a:lnTo>
                  <a:pt x="0" y="158750"/>
                </a:lnTo>
                <a:cubicBezTo>
                  <a:pt x="0" y="213568"/>
                  <a:pt x="124396" y="257969"/>
                  <a:pt x="277813" y="257969"/>
                </a:cubicBezTo>
                <a:cubicBezTo>
                  <a:pt x="431229" y="257969"/>
                  <a:pt x="555625" y="213568"/>
                  <a:pt x="555625" y="158750"/>
                </a:cubicBezTo>
                <a:close/>
                <a:moveTo>
                  <a:pt x="494233" y="483443"/>
                </a:moveTo>
                <a:cubicBezTo>
                  <a:pt x="436066" y="504155"/>
                  <a:pt x="359544" y="515937"/>
                  <a:pt x="277813" y="515937"/>
                </a:cubicBezTo>
                <a:cubicBezTo>
                  <a:pt x="196081" y="515937"/>
                  <a:pt x="119559" y="504155"/>
                  <a:pt x="61392" y="483443"/>
                </a:cubicBezTo>
                <a:cubicBezTo>
                  <a:pt x="39563" y="475630"/>
                  <a:pt x="18355" y="465832"/>
                  <a:pt x="0" y="453678"/>
                </a:cubicBezTo>
                <a:lnTo>
                  <a:pt x="0" y="535781"/>
                </a:lnTo>
                <a:cubicBezTo>
                  <a:pt x="0" y="590600"/>
                  <a:pt x="124396" y="635000"/>
                  <a:pt x="277813" y="635000"/>
                </a:cubicBezTo>
                <a:cubicBezTo>
                  <a:pt x="431229" y="635000"/>
                  <a:pt x="555625" y="590600"/>
                  <a:pt x="555625" y="535781"/>
                </a:cubicBezTo>
                <a:lnTo>
                  <a:pt x="555625" y="453678"/>
                </a:lnTo>
                <a:cubicBezTo>
                  <a:pt x="537270" y="465832"/>
                  <a:pt x="516186" y="475630"/>
                  <a:pt x="494233" y="483443"/>
                </a:cubicBezTo>
                <a:close/>
              </a:path>
            </a:pathLst>
          </a:custGeom>
          <a:solidFill>
            <a:srgbClr val="004AAD"/>
          </a:solidFill>
          <a:ln/>
        </p:spPr>
      </p:sp>
      <p:sp>
        <p:nvSpPr>
          <p:cNvPr id="22" name="Text 19"/>
          <p:cNvSpPr/>
          <p:nvPr/>
        </p:nvSpPr>
        <p:spPr>
          <a:xfrm>
            <a:off x="2667000" y="66675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大数据 → 少样本推理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667000" y="73025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用少量代表性样本完成高效检测，降低标注成本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371600" y="8255000"/>
            <a:ext cx="10668000" cy="1524000"/>
          </a:xfrm>
          <a:prstGeom prst="rect">
            <a:avLst/>
          </a:prstGeom>
          <a:solidFill>
            <a:srgbClr val="7EC8E3"/>
          </a:solidFill>
          <a:ln/>
        </p:spPr>
      </p:sp>
      <p:sp>
        <p:nvSpPr>
          <p:cNvPr id="25" name="Shape 22"/>
          <p:cNvSpPr/>
          <p:nvPr/>
        </p:nvSpPr>
        <p:spPr>
          <a:xfrm>
            <a:off x="1371600" y="8255000"/>
            <a:ext cx="190500" cy="1524000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26" name="Shape 23"/>
          <p:cNvSpPr/>
          <p:nvPr/>
        </p:nvSpPr>
        <p:spPr>
          <a:xfrm>
            <a:off x="1817688" y="85725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476250" y="635000"/>
                </a:moveTo>
                <a:lnTo>
                  <a:pt x="119062" y="635000"/>
                </a:lnTo>
                <a:cubicBezTo>
                  <a:pt x="53330" y="635000"/>
                  <a:pt x="0" y="581670"/>
                  <a:pt x="0" y="515937"/>
                </a:cubicBezTo>
                <a:lnTo>
                  <a:pt x="0" y="119062"/>
                </a:lnTo>
                <a:cubicBezTo>
                  <a:pt x="0" y="53330"/>
                  <a:pt x="53330" y="0"/>
                  <a:pt x="119062" y="0"/>
                </a:cubicBezTo>
                <a:lnTo>
                  <a:pt x="496094" y="0"/>
                </a:lnTo>
                <a:cubicBezTo>
                  <a:pt x="528960" y="0"/>
                  <a:pt x="555625" y="26665"/>
                  <a:pt x="555625" y="59531"/>
                </a:cubicBezTo>
                <a:lnTo>
                  <a:pt x="555625" y="416719"/>
                </a:lnTo>
                <a:cubicBezTo>
                  <a:pt x="555625" y="442640"/>
                  <a:pt x="539006" y="464716"/>
                  <a:pt x="515937" y="472901"/>
                </a:cubicBezTo>
                <a:lnTo>
                  <a:pt x="515937" y="555625"/>
                </a:lnTo>
                <a:cubicBezTo>
                  <a:pt x="537890" y="555625"/>
                  <a:pt x="555625" y="573360"/>
                  <a:pt x="555625" y="595313"/>
                </a:cubicBezTo>
                <a:cubicBezTo>
                  <a:pt x="555625" y="617265"/>
                  <a:pt x="537890" y="635000"/>
                  <a:pt x="515937" y="635000"/>
                </a:cubicBezTo>
                <a:lnTo>
                  <a:pt x="476250" y="635000"/>
                </a:lnTo>
                <a:close/>
                <a:moveTo>
                  <a:pt x="119062" y="476250"/>
                </a:moveTo>
                <a:cubicBezTo>
                  <a:pt x="97110" y="476250"/>
                  <a:pt x="79375" y="493985"/>
                  <a:pt x="79375" y="515937"/>
                </a:cubicBezTo>
                <a:cubicBezTo>
                  <a:pt x="79375" y="537890"/>
                  <a:pt x="97110" y="555625"/>
                  <a:pt x="119062" y="555625"/>
                </a:cubicBezTo>
                <a:lnTo>
                  <a:pt x="436563" y="555625"/>
                </a:lnTo>
                <a:lnTo>
                  <a:pt x="436563" y="476250"/>
                </a:lnTo>
                <a:lnTo>
                  <a:pt x="119062" y="476250"/>
                </a:lnTo>
                <a:close/>
                <a:moveTo>
                  <a:pt x="158750" y="188516"/>
                </a:moveTo>
                <a:cubicBezTo>
                  <a:pt x="158750" y="205011"/>
                  <a:pt x="172021" y="218281"/>
                  <a:pt x="188516" y="218281"/>
                </a:cubicBezTo>
                <a:lnTo>
                  <a:pt x="406797" y="218281"/>
                </a:lnTo>
                <a:cubicBezTo>
                  <a:pt x="423292" y="218281"/>
                  <a:pt x="436563" y="205011"/>
                  <a:pt x="436563" y="188516"/>
                </a:cubicBezTo>
                <a:cubicBezTo>
                  <a:pt x="436563" y="172021"/>
                  <a:pt x="423292" y="158750"/>
                  <a:pt x="406797" y="158750"/>
                </a:cubicBezTo>
                <a:lnTo>
                  <a:pt x="188516" y="158750"/>
                </a:lnTo>
                <a:cubicBezTo>
                  <a:pt x="172021" y="158750"/>
                  <a:pt x="158750" y="172021"/>
                  <a:pt x="158750" y="188516"/>
                </a:cubicBezTo>
                <a:close/>
                <a:moveTo>
                  <a:pt x="188516" y="277813"/>
                </a:moveTo>
                <a:cubicBezTo>
                  <a:pt x="172021" y="277813"/>
                  <a:pt x="158750" y="291083"/>
                  <a:pt x="158750" y="307578"/>
                </a:cubicBezTo>
                <a:cubicBezTo>
                  <a:pt x="158750" y="324073"/>
                  <a:pt x="172021" y="337344"/>
                  <a:pt x="188516" y="337344"/>
                </a:cubicBezTo>
                <a:lnTo>
                  <a:pt x="406797" y="337344"/>
                </a:lnTo>
                <a:cubicBezTo>
                  <a:pt x="423292" y="337344"/>
                  <a:pt x="436563" y="324073"/>
                  <a:pt x="436563" y="307578"/>
                </a:cubicBezTo>
                <a:cubicBezTo>
                  <a:pt x="436563" y="291083"/>
                  <a:pt x="423292" y="277813"/>
                  <a:pt x="406797" y="277813"/>
                </a:cubicBezTo>
                <a:lnTo>
                  <a:pt x="188516" y="277813"/>
                </a:lnTo>
                <a:close/>
              </a:path>
            </a:pathLst>
          </a:custGeom>
          <a:solidFill>
            <a:srgbClr val="004AAD"/>
          </a:solidFill>
          <a:ln/>
        </p:spPr>
      </p:sp>
      <p:sp>
        <p:nvSpPr>
          <p:cNvPr id="27" name="Text 24"/>
          <p:cNvSpPr/>
          <p:nvPr/>
        </p:nvSpPr>
        <p:spPr>
          <a:xfrm>
            <a:off x="2667000" y="84455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单一模型 → 知识增强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2667000" y="90805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结合安全规则知识库，让 LLM 有据可依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2700000" y="4699000"/>
            <a:ext cx="10287000" cy="5080000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30" name="Text 27"/>
          <p:cNvSpPr/>
          <p:nvPr/>
        </p:nvSpPr>
        <p:spPr>
          <a:xfrm>
            <a:off x="13081000" y="48895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实验流程概览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3081000" y="5715000"/>
            <a:ext cx="1651000" cy="63500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32" name="Text 29"/>
          <p:cNvSpPr/>
          <p:nvPr/>
        </p:nvSpPr>
        <p:spPr>
          <a:xfrm>
            <a:off x="13081000" y="5715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4795500" y="5994400"/>
            <a:ext cx="508000" cy="0"/>
          </a:xfrm>
          <a:prstGeom prst="straightConnector1">
            <a:avLst/>
          </a:prstGeom>
          <a:noFill/>
          <a:ln w="25400">
            <a:solidFill>
              <a:srgbClr val="004AAD"/>
            </a:solidFill>
            <a:prstDash val="solid"/>
            <a:headEnd type="none"/>
            <a:tailEnd type="arrow"/>
          </a:ln>
        </p:spPr>
      </p:sp>
      <p:sp>
        <p:nvSpPr>
          <p:cNvPr id="34" name="Shape 31"/>
          <p:cNvSpPr/>
          <p:nvPr/>
        </p:nvSpPr>
        <p:spPr>
          <a:xfrm>
            <a:off x="15367000" y="5715000"/>
            <a:ext cx="1651000" cy="635000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35" name="Text 32"/>
          <p:cNvSpPr/>
          <p:nvPr/>
        </p:nvSpPr>
        <p:spPr>
          <a:xfrm>
            <a:off x="15367000" y="5715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Core-set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7081500" y="5994400"/>
            <a:ext cx="508000" cy="0"/>
          </a:xfrm>
          <a:prstGeom prst="straightConnector1">
            <a:avLst/>
          </a:prstGeom>
          <a:noFill/>
          <a:ln w="25400">
            <a:solidFill>
              <a:srgbClr val="004AAD"/>
            </a:solidFill>
            <a:prstDash val="solid"/>
            <a:headEnd type="none"/>
            <a:tailEnd type="arrow"/>
          </a:ln>
        </p:spPr>
      </p:sp>
      <p:sp>
        <p:nvSpPr>
          <p:cNvPr id="37" name="Shape 34"/>
          <p:cNvSpPr/>
          <p:nvPr/>
        </p:nvSpPr>
        <p:spPr>
          <a:xfrm>
            <a:off x="17653000" y="5715000"/>
            <a:ext cx="1651000" cy="635000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38" name="Text 35"/>
          <p:cNvSpPr/>
          <p:nvPr/>
        </p:nvSpPr>
        <p:spPr>
          <a:xfrm>
            <a:off x="17653000" y="5715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Base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19367500" y="5994400"/>
            <a:ext cx="508000" cy="0"/>
          </a:xfrm>
          <a:prstGeom prst="straightConnector1">
            <a:avLst/>
          </a:prstGeom>
          <a:noFill/>
          <a:ln w="25400">
            <a:solidFill>
              <a:srgbClr val="004AAD"/>
            </a:solidFill>
            <a:prstDash val="solid"/>
            <a:headEnd type="none"/>
            <a:tailEnd type="arrow"/>
          </a:ln>
        </p:spPr>
      </p:sp>
      <p:sp>
        <p:nvSpPr>
          <p:cNvPr id="40" name="Shape 37"/>
          <p:cNvSpPr/>
          <p:nvPr/>
        </p:nvSpPr>
        <p:spPr>
          <a:xfrm>
            <a:off x="19939000" y="5715000"/>
            <a:ext cx="1651000" cy="635000"/>
          </a:xfrm>
          <a:prstGeom prst="rect">
            <a:avLst/>
          </a:prstGeom>
          <a:solidFill>
            <a:srgbClr val="7EC8E3"/>
          </a:solidFill>
          <a:ln/>
        </p:spPr>
      </p:sp>
      <p:sp>
        <p:nvSpPr>
          <p:cNvPr id="41" name="Text 38"/>
          <p:cNvSpPr/>
          <p:nvPr/>
        </p:nvSpPr>
        <p:spPr>
          <a:xfrm>
            <a:off x="19939000" y="5715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4795500" y="7264400"/>
            <a:ext cx="508000" cy="0"/>
          </a:xfrm>
          <a:prstGeom prst="straightConnector1">
            <a:avLst/>
          </a:prstGeom>
          <a:noFill/>
          <a:ln w="25400">
            <a:solidFill>
              <a:srgbClr val="004AAD"/>
            </a:solidFill>
            <a:prstDash val="solid"/>
            <a:headEnd type="none"/>
            <a:tailEnd type="arrow"/>
          </a:ln>
        </p:spPr>
      </p:sp>
      <p:sp>
        <p:nvSpPr>
          <p:cNvPr id="43" name="Shape 40"/>
          <p:cNvSpPr/>
          <p:nvPr/>
        </p:nvSpPr>
        <p:spPr>
          <a:xfrm>
            <a:off x="15367000" y="6985000"/>
            <a:ext cx="1651000" cy="635000"/>
          </a:xfrm>
          <a:prstGeom prst="rect">
            <a:avLst/>
          </a:prstGeom>
          <a:solidFill>
            <a:srgbClr val="7EC8E3"/>
          </a:solidFill>
          <a:ln/>
        </p:spPr>
      </p:sp>
      <p:sp>
        <p:nvSpPr>
          <p:cNvPr id="44" name="Text 41"/>
          <p:cNvSpPr/>
          <p:nvPr/>
        </p:nvSpPr>
        <p:spPr>
          <a:xfrm>
            <a:off x="15367000" y="6985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7081500" y="7264400"/>
            <a:ext cx="508000" cy="0"/>
          </a:xfrm>
          <a:prstGeom prst="straightConnector1">
            <a:avLst/>
          </a:prstGeom>
          <a:noFill/>
          <a:ln w="25400">
            <a:solidFill>
              <a:srgbClr val="004AAD"/>
            </a:solidFill>
            <a:prstDash val="solid"/>
            <a:headEnd type="none"/>
            <a:tailEnd type="arrow"/>
          </a:ln>
        </p:spPr>
      </p:sp>
      <p:sp>
        <p:nvSpPr>
          <p:cNvPr id="46" name="Shape 43"/>
          <p:cNvSpPr/>
          <p:nvPr/>
        </p:nvSpPr>
        <p:spPr>
          <a:xfrm>
            <a:off x="17653000" y="6985000"/>
            <a:ext cx="1651000" cy="63500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47" name="Text 44"/>
          <p:cNvSpPr/>
          <p:nvPr/>
        </p:nvSpPr>
        <p:spPr>
          <a:xfrm>
            <a:off x="17653000" y="6985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3081000" y="8128000"/>
            <a:ext cx="952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 err="1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完成一个简化版</a:t>
            </a: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altLang="zh-CN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</a:t>
            </a:r>
            <a:r>
              <a:rPr lang="en-US" sz="2200" dirty="0" err="1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实验流程</a:t>
            </a: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 err="1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少样本选择</a:t>
            </a: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</a:t>
            </a:r>
            <a:r>
              <a:rPr lang="zh-CN" alt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神经网络 </a:t>
            </a:r>
            <a:r>
              <a:rPr lang="en-US" altLang="zh-CN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</a:t>
            </a:r>
            <a:r>
              <a:rPr lang="en-US" sz="2200" dirty="0" err="1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安全规则知识库</a:t>
            </a: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RAG 增强 LLM </a:t>
            </a:r>
            <a:r>
              <a:rPr lang="en-US" sz="2200" dirty="0" err="1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推理</a:t>
            </a:r>
            <a:endParaRPr lang="en-US" sz="2200" dirty="0">
              <a:solidFill>
                <a:srgbClr val="1A1A2E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1">
          <a:gsLst>
            <a:gs pos="0">
              <a:srgbClr val="C7E2FF"/>
            </a:gs>
            <a:gs pos="50000">
              <a:srgbClr val="EAF4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21080" y="800989"/>
            <a:ext cx="11030712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EXPERIMENT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8158841" y="800989"/>
            <a:ext cx="5204079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9680" y="1524000"/>
            <a:ext cx="889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 DATA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1249680" y="2730500"/>
            <a:ext cx="7620000" cy="0"/>
          </a:xfrm>
          <a:prstGeom prst="line">
            <a:avLst/>
          </a:prstGeom>
          <a:noFill/>
          <a:ln w="19050">
            <a:solidFill>
              <a:srgbClr val="004AA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249680" y="2857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4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实验数据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348359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85077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0" name="Shape 7"/>
          <p:cNvSpPr/>
          <p:nvPr/>
        </p:nvSpPr>
        <p:spPr>
          <a:xfrm rot="5400000">
            <a:off x="2353056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1" name="Shape 8"/>
          <p:cNvSpPr/>
          <p:nvPr/>
        </p:nvSpPr>
        <p:spPr>
          <a:xfrm rot="5400000">
            <a:off x="285534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2" name="Shape 9"/>
          <p:cNvSpPr/>
          <p:nvPr/>
        </p:nvSpPr>
        <p:spPr>
          <a:xfrm rot="5400000">
            <a:off x="3357753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3" name="Shape 10"/>
          <p:cNvSpPr/>
          <p:nvPr/>
        </p:nvSpPr>
        <p:spPr>
          <a:xfrm rot="5400000">
            <a:off x="3860038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4" name="Shape 11"/>
          <p:cNvSpPr/>
          <p:nvPr/>
        </p:nvSpPr>
        <p:spPr>
          <a:xfrm>
            <a:off x="1371600" y="4699000"/>
            <a:ext cx="6667500" cy="3302000"/>
          </a:xfrm>
          <a:prstGeom prst="rect">
            <a:avLst/>
          </a:prstGeom>
          <a:solidFill>
            <a:srgbClr val="7EC8E3"/>
          </a:solidFill>
          <a:ln/>
        </p:spPr>
      </p:sp>
      <p:sp>
        <p:nvSpPr>
          <p:cNvPr id="15" name="Shape 12"/>
          <p:cNvSpPr/>
          <p:nvPr/>
        </p:nvSpPr>
        <p:spPr>
          <a:xfrm>
            <a:off x="1371600" y="4699000"/>
            <a:ext cx="6667500" cy="762000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16" name="Text 13"/>
          <p:cNvSpPr/>
          <p:nvPr/>
        </p:nvSpPr>
        <p:spPr>
          <a:xfrm>
            <a:off x="1651000" y="4762500"/>
            <a:ext cx="609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Permission 权限特征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651000" y="5651500"/>
            <a:ext cx="609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读取联系人、短信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获取位置信息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录音、拍照权限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后台运行、自启动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851900" y="4699000"/>
            <a:ext cx="6667500" cy="3302000"/>
          </a:xfrm>
          <a:prstGeom prst="rect">
            <a:avLst/>
          </a:prstGeom>
          <a:solidFill>
            <a:srgbClr val="BFE4FF"/>
          </a:solidFill>
          <a:ln/>
        </p:spPr>
      </p:sp>
      <p:sp>
        <p:nvSpPr>
          <p:cNvPr id="19" name="Shape 16"/>
          <p:cNvSpPr/>
          <p:nvPr/>
        </p:nvSpPr>
        <p:spPr>
          <a:xfrm>
            <a:off x="8851900" y="4699000"/>
            <a:ext cx="6667500" cy="76200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0" name="Text 17"/>
          <p:cNvSpPr/>
          <p:nvPr/>
        </p:nvSpPr>
        <p:spPr>
          <a:xfrm>
            <a:off x="9131300" y="4762500"/>
            <a:ext cx="609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Call 调用特征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131300" y="5651500"/>
            <a:ext cx="609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敏感 API 调用序列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反射调用、动态加载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加密/解密操作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网络通信接口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6332200" y="4699000"/>
            <a:ext cx="6667500" cy="3302000"/>
          </a:xfrm>
          <a:prstGeom prst="rect">
            <a:avLst/>
          </a:prstGeom>
          <a:solidFill>
            <a:srgbClr val="7EC8E3"/>
          </a:solidFill>
          <a:ln/>
        </p:spPr>
      </p:sp>
      <p:sp>
        <p:nvSpPr>
          <p:cNvPr id="23" name="Shape 20"/>
          <p:cNvSpPr/>
          <p:nvPr/>
        </p:nvSpPr>
        <p:spPr>
          <a:xfrm>
            <a:off x="16332200" y="4699000"/>
            <a:ext cx="6667500" cy="762000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24" name="Text 21"/>
          <p:cNvSpPr/>
          <p:nvPr/>
        </p:nvSpPr>
        <p:spPr>
          <a:xfrm>
            <a:off x="16611600" y="4762500"/>
            <a:ext cx="609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网络特征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6611600" y="5651500"/>
            <a:ext cx="609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可疑域名访问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数据上传行为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加密通信模式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C&amp;C 服务器连接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789003"/>
              </p:ext>
            </p:extLst>
          </p:nvPr>
        </p:nvGraphicFramePr>
        <p:xfrm>
          <a:off x="1371600" y="8509000"/>
          <a:ext cx="21640800" cy="3302000"/>
        </p:xfrm>
        <a:graphic>
          <a:graphicData uri="http://schemas.openxmlformats.org/drawingml/2006/table">
            <a:tbl>
              <a:tblPr/>
              <a:tblGrid>
                <a:gridCol w="432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数据集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样本数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特征数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标签类型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类别分布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Kaggle Android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~10,000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200+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Binary/Family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不平衡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CICAndMal2017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~4,000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400+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Multi-label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不平衡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charset="0"/>
                          <a:cs typeface="Liter" charset="0"/>
                        </a:rPr>
                        <a:t>Genome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~5,000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精选特征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Behavior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可控分布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F319E6B8-C8A4-45FE-BECE-67458D618234}"/>
              </a:ext>
            </a:extLst>
          </p:cNvPr>
          <p:cNvSpPr txBox="1"/>
          <p:nvPr/>
        </p:nvSpPr>
        <p:spPr>
          <a:xfrm>
            <a:off x="1371600" y="12272086"/>
            <a:ext cx="21640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Android malware dataset (</a:t>
            </a:r>
            <a:r>
              <a:rPr lang="en-US" altLang="zh-CN" sz="2800" dirty="0" err="1"/>
              <a:t>CICMalDroid</a:t>
            </a:r>
            <a:r>
              <a:rPr lang="en-US" altLang="zh-CN" sz="2800" dirty="0"/>
              <a:t> 2020). https://www.unb.ca//cic/datasets/maldroid-2020.html</a:t>
            </a:r>
          </a:p>
          <a:p>
            <a:r>
              <a:rPr lang="en-US" altLang="zh-CN" sz="2800" dirty="0"/>
              <a:t>Android Malware Detection. https://www.kaggle.com/ datasets/</a:t>
            </a:r>
            <a:r>
              <a:rPr lang="en-US" altLang="zh-CN" sz="2800" dirty="0" err="1"/>
              <a:t>subhajournal</a:t>
            </a:r>
            <a:r>
              <a:rPr lang="en-US" altLang="zh-CN" sz="2800" dirty="0"/>
              <a:t>/android-malware-detection/data </a:t>
            </a:r>
            <a:endParaRPr lang="zh-CN" altLang="en-US" sz="28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1">
          <a:gsLst>
            <a:gs pos="0">
              <a:srgbClr val="C7E2FF"/>
            </a:gs>
            <a:gs pos="50000">
              <a:srgbClr val="EAF4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21080" y="800989"/>
            <a:ext cx="11030712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EXPERIMENT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8158841" y="800989"/>
            <a:ext cx="5204079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9680" y="1524000"/>
            <a:ext cx="1016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 SAMPLING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1249680" y="2730500"/>
            <a:ext cx="8890000" cy="0"/>
          </a:xfrm>
          <a:prstGeom prst="line">
            <a:avLst/>
          </a:prstGeom>
          <a:noFill/>
          <a:ln w="19050">
            <a:solidFill>
              <a:srgbClr val="004AA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249680" y="2857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4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少样本选择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348359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85077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0" name="Shape 7"/>
          <p:cNvSpPr/>
          <p:nvPr/>
        </p:nvSpPr>
        <p:spPr>
          <a:xfrm rot="5400000">
            <a:off x="2353056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1" name="Shape 8"/>
          <p:cNvSpPr/>
          <p:nvPr/>
        </p:nvSpPr>
        <p:spPr>
          <a:xfrm rot="5400000">
            <a:off x="285534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2" name="Shape 9"/>
          <p:cNvSpPr/>
          <p:nvPr/>
        </p:nvSpPr>
        <p:spPr>
          <a:xfrm rot="5400000">
            <a:off x="3357753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3" name="Shape 10"/>
          <p:cNvSpPr/>
          <p:nvPr/>
        </p:nvSpPr>
        <p:spPr>
          <a:xfrm rot="5400000">
            <a:off x="3860038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4" name="Shape 11"/>
          <p:cNvSpPr/>
          <p:nvPr/>
        </p:nvSpPr>
        <p:spPr>
          <a:xfrm>
            <a:off x="1371600" y="4699000"/>
            <a:ext cx="4775200" cy="863600"/>
          </a:xfrm>
          <a:prstGeom prst="rect">
            <a:avLst/>
          </a:prstGeom>
          <a:solidFill>
            <a:srgbClr val="7EC8E3"/>
          </a:solidFill>
          <a:ln/>
        </p:spPr>
      </p:sp>
      <p:sp>
        <p:nvSpPr>
          <p:cNvPr id="15" name="Shape 12"/>
          <p:cNvSpPr/>
          <p:nvPr/>
        </p:nvSpPr>
        <p:spPr>
          <a:xfrm>
            <a:off x="1371600" y="4699000"/>
            <a:ext cx="190500" cy="863600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16" name="Text 13"/>
          <p:cNvSpPr/>
          <p:nvPr/>
        </p:nvSpPr>
        <p:spPr>
          <a:xfrm>
            <a:off x="1803400" y="4800600"/>
            <a:ext cx="4191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 Setting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57785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每类恶意软件仅选择 K 个样本作为训练/示例，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测试模型在极少样本下的泛化能力。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49680" y="7112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两种采样策略对比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371600" y="7937500"/>
            <a:ext cx="10160000" cy="1651000"/>
          </a:xfrm>
          <a:prstGeom prst="rect">
            <a:avLst/>
          </a:prstGeom>
          <a:solidFill>
            <a:srgbClr val="BFE4FF"/>
          </a:solidFill>
          <a:ln/>
        </p:spPr>
      </p:sp>
      <p:sp>
        <p:nvSpPr>
          <p:cNvPr id="20" name="Shape 17"/>
          <p:cNvSpPr/>
          <p:nvPr/>
        </p:nvSpPr>
        <p:spPr>
          <a:xfrm>
            <a:off x="1371600" y="7937500"/>
            <a:ext cx="101600" cy="1651000"/>
          </a:xfrm>
          <a:prstGeom prst="rect">
            <a:avLst/>
          </a:prstGeom>
          <a:solidFill>
            <a:srgbClr val="737373"/>
          </a:solidFill>
          <a:ln/>
        </p:spPr>
      </p:sp>
      <p:sp>
        <p:nvSpPr>
          <p:cNvPr id="21" name="Text 18"/>
          <p:cNvSpPr/>
          <p:nvPr/>
        </p:nvSpPr>
        <p:spPr>
          <a:xfrm>
            <a:off x="1778000" y="80264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Sampling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778000" y="8636000"/>
            <a:ext cx="939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随机选择 K 个样本作为基线方法，简单但可能遗漏关键特征模式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371600" y="9842500"/>
            <a:ext cx="10160000" cy="1651000"/>
          </a:xfrm>
          <a:prstGeom prst="rect">
            <a:avLst/>
          </a:prstGeom>
          <a:solidFill>
            <a:srgbClr val="7EC8E3"/>
          </a:solidFill>
          <a:ln/>
        </p:spPr>
      </p:sp>
      <p:sp>
        <p:nvSpPr>
          <p:cNvPr id="24" name="Shape 21"/>
          <p:cNvSpPr/>
          <p:nvPr/>
        </p:nvSpPr>
        <p:spPr>
          <a:xfrm>
            <a:off x="1371600" y="9842500"/>
            <a:ext cx="101600" cy="1651000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25" name="Text 22"/>
          <p:cNvSpPr/>
          <p:nvPr/>
        </p:nvSpPr>
        <p:spPr>
          <a:xfrm>
            <a:off x="1778000" y="9931400"/>
            <a:ext cx="444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Core-set Sampling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778000" y="10541000"/>
            <a:ext cx="939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选择覆盖特征空间的代表性样本，可用距离中心点的方法简化实现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2192000" y="4699000"/>
            <a:ext cx="10795000" cy="6794500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28" name="Text 25"/>
          <p:cNvSpPr/>
          <p:nvPr/>
        </p:nvSpPr>
        <p:spPr>
          <a:xfrm>
            <a:off x="12573000" y="4953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学生实验任务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2573000" y="5588000"/>
            <a:ext cx="10033000" cy="0"/>
          </a:xfrm>
          <a:prstGeom prst="line">
            <a:avLst/>
          </a:prstGeom>
          <a:noFill/>
          <a:ln w="25400">
            <a:solidFill>
              <a:srgbClr val="7EC8E3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/>
          <p:nvPr/>
        </p:nvSpPr>
        <p:spPr>
          <a:xfrm>
            <a:off x="12573000" y="5842000"/>
            <a:ext cx="10033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实现 Random K-shot 采样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实现 Core-set K-shot 采样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（可用特征距离简化）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对比两种方法的样本分布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记录每类选择的样本编号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分析代表性差异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C7E2FF"/>
            </a:gs>
            <a:gs pos="50000">
              <a:srgbClr val="EAF4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21080" y="800989"/>
            <a:ext cx="11030712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EXPERIMENT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8158841" y="800989"/>
            <a:ext cx="5204079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9680" y="1524000"/>
            <a:ext cx="1143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RULE BASE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1249680" y="2730500"/>
            <a:ext cx="8890000" cy="0"/>
          </a:xfrm>
          <a:prstGeom prst="line">
            <a:avLst/>
          </a:prstGeom>
          <a:noFill/>
          <a:ln w="19050">
            <a:solidFill>
              <a:srgbClr val="004AA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249680" y="2857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4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安全规则知识库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348359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85077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0" name="Shape 7"/>
          <p:cNvSpPr/>
          <p:nvPr/>
        </p:nvSpPr>
        <p:spPr>
          <a:xfrm rot="5400000">
            <a:off x="2353056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1" name="Shape 8"/>
          <p:cNvSpPr/>
          <p:nvPr/>
        </p:nvSpPr>
        <p:spPr>
          <a:xfrm rot="5400000">
            <a:off x="285534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2" name="Shape 9"/>
          <p:cNvSpPr/>
          <p:nvPr/>
        </p:nvSpPr>
        <p:spPr>
          <a:xfrm rot="5400000">
            <a:off x="3357753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3" name="Shape 10"/>
          <p:cNvSpPr/>
          <p:nvPr/>
        </p:nvSpPr>
        <p:spPr>
          <a:xfrm rot="5400000">
            <a:off x="3860038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4699000"/>
          <a:ext cx="21640800" cy="4318002"/>
        </p:xfrm>
        <a:graphic>
          <a:graphicData uri="http://schemas.openxmlformats.org/drawingml/2006/table">
            <a:tbl>
              <a:tblPr/>
              <a:tblGrid>
                <a:gridCol w="2596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5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9858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Rule ID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Related Label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Explanation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036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R01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READ_CONTACTS + SEND_SMS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Spyware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读取联系人并发送短信，涉嫌窃取用户社交关系链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7036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R02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ACCESS_FINE_LOCATION + INTERNET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Tracker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获取精确位置并联网上传，用于追踪用户行踪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7036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R03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RECORD_AUDIO + ENCRYPT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Trojan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录音并加密文件，可能用于窃取敏感音频信息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7036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R04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SYSTEM_ALERT_WINDOW + BOOT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Adware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弹窗权限加自启动，典型广告软件行为模式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1371600" y="9398000"/>
            <a:ext cx="21640800" cy="2540000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16" name="Text 12"/>
          <p:cNvSpPr/>
          <p:nvPr/>
        </p:nvSpPr>
        <p:spPr>
          <a:xfrm>
            <a:off x="1778000" y="95885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学生任务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778000" y="10223500"/>
            <a:ext cx="2082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每组构建 10-20 条规则，覆盖 Permission / API / Network 三类特征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规则格式：Feature | Related Label | Explanation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规则需可解释：能说明为什么某特征组合对应某类恶意行为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flip="none" rotWithShape="1">
          <a:gsLst>
            <a:gs pos="0">
              <a:srgbClr val="C7E2FF"/>
            </a:gs>
            <a:gs pos="50000">
              <a:srgbClr val="EAF4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21080" y="800989"/>
            <a:ext cx="11030712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EXPERIMENT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8158841" y="800989"/>
            <a:ext cx="5204079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9680" y="1524000"/>
            <a:ext cx="889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 PIPELINE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1249680" y="2730500"/>
            <a:ext cx="7620000" cy="0"/>
          </a:xfrm>
          <a:prstGeom prst="line">
            <a:avLst/>
          </a:prstGeom>
          <a:noFill/>
          <a:ln w="19050">
            <a:solidFill>
              <a:srgbClr val="004AA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249680" y="2857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4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 增强推理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348359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85077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0" name="Shape 7"/>
          <p:cNvSpPr/>
          <p:nvPr/>
        </p:nvSpPr>
        <p:spPr>
          <a:xfrm rot="5400000">
            <a:off x="2353056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1" name="Shape 8"/>
          <p:cNvSpPr/>
          <p:nvPr/>
        </p:nvSpPr>
        <p:spPr>
          <a:xfrm rot="5400000">
            <a:off x="285534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2" name="Shape 9"/>
          <p:cNvSpPr/>
          <p:nvPr/>
        </p:nvSpPr>
        <p:spPr>
          <a:xfrm rot="5400000">
            <a:off x="3357753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3" name="Shape 10"/>
          <p:cNvSpPr/>
          <p:nvPr/>
        </p:nvSpPr>
        <p:spPr>
          <a:xfrm rot="5400000">
            <a:off x="3860038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4" name="Shape 11"/>
          <p:cNvSpPr/>
          <p:nvPr/>
        </p:nvSpPr>
        <p:spPr>
          <a:xfrm>
            <a:off x="1371600" y="4826000"/>
            <a:ext cx="3810000" cy="101600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5" name="Text 12"/>
          <p:cNvSpPr/>
          <p:nvPr/>
        </p:nvSpPr>
        <p:spPr>
          <a:xfrm>
            <a:off x="1371600" y="4826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245100" y="5270500"/>
            <a:ext cx="635000" cy="0"/>
          </a:xfrm>
          <a:prstGeom prst="straightConnector1">
            <a:avLst/>
          </a:prstGeom>
          <a:noFill/>
          <a:ln w="38100">
            <a:solidFill>
              <a:srgbClr val="004AAD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5943600" y="4826000"/>
            <a:ext cx="3810000" cy="1016000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0" y="4826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817100" y="5270500"/>
            <a:ext cx="635000" cy="0"/>
          </a:xfrm>
          <a:prstGeom prst="straightConnector1">
            <a:avLst/>
          </a:prstGeom>
          <a:noFill/>
          <a:ln w="38100">
            <a:solidFill>
              <a:srgbClr val="004AAD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10515600" y="4826000"/>
            <a:ext cx="3810000" cy="1016000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21" name="Text 18"/>
          <p:cNvSpPr/>
          <p:nvPr/>
        </p:nvSpPr>
        <p:spPr>
          <a:xfrm>
            <a:off x="10515600" y="4826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Injection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4389100" y="5270500"/>
            <a:ext cx="635000" cy="0"/>
          </a:xfrm>
          <a:prstGeom prst="straightConnector1">
            <a:avLst/>
          </a:prstGeom>
          <a:noFill/>
          <a:ln w="38100">
            <a:solidFill>
              <a:srgbClr val="004AAD"/>
            </a:solidFill>
            <a:prstDash val="solid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15087600" y="4826000"/>
            <a:ext cx="3810000" cy="1016000"/>
          </a:xfrm>
          <a:prstGeom prst="rect">
            <a:avLst/>
          </a:prstGeom>
          <a:solidFill>
            <a:srgbClr val="7EC8E3"/>
          </a:solidFill>
          <a:ln/>
        </p:spPr>
      </p:sp>
      <p:sp>
        <p:nvSpPr>
          <p:cNvPr id="24" name="Text 21"/>
          <p:cNvSpPr/>
          <p:nvPr/>
        </p:nvSpPr>
        <p:spPr>
          <a:xfrm>
            <a:off x="15087600" y="4826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8961100" y="5270500"/>
            <a:ext cx="635000" cy="0"/>
          </a:xfrm>
          <a:prstGeom prst="straightConnector1">
            <a:avLst/>
          </a:prstGeom>
          <a:noFill/>
          <a:ln w="38100">
            <a:solidFill>
              <a:srgbClr val="004AAD"/>
            </a:solidFill>
            <a:prstDash val="solid"/>
            <a:headEnd type="none"/>
            <a:tailEnd type="arrow"/>
          </a:ln>
        </p:spPr>
      </p:sp>
      <p:sp>
        <p:nvSpPr>
          <p:cNvPr id="26" name="Shape 23"/>
          <p:cNvSpPr/>
          <p:nvPr/>
        </p:nvSpPr>
        <p:spPr>
          <a:xfrm>
            <a:off x="19659600" y="4826000"/>
            <a:ext cx="3302000" cy="101600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27" name="Text 24"/>
          <p:cNvSpPr/>
          <p:nvPr/>
        </p:nvSpPr>
        <p:spPr>
          <a:xfrm>
            <a:off x="19659600" y="4826000"/>
            <a:ext cx="330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371600" y="6477000"/>
            <a:ext cx="21640800" cy="3302000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29" name="Text 26"/>
          <p:cNvSpPr/>
          <p:nvPr/>
        </p:nvSpPr>
        <p:spPr>
          <a:xfrm>
            <a:off x="1778000" y="6667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结构化输出要求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778000" y="7366000"/>
            <a:ext cx="9906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预测标签</a:t>
            </a: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：恶意/良性 或 具体家族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关键证据</a:t>
            </a: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：支持判断的核心特征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推理解释</a:t>
            </a: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：为什么做出该判断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置信度</a:t>
            </a: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：0-1 之间的置信分数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2192000" y="6667500"/>
            <a:ext cx="104140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573000" y="685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模板要点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2573000" y="7429500"/>
            <a:ext cx="965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输入：样本特征 + 检索到的相关规则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要求：按固定 JSON 格式输出结果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约束：必须引用规则库中的规则作为依据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371600" y="10160000"/>
            <a:ext cx="21640800" cy="86360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35" name="Text 32"/>
          <p:cNvSpPr/>
          <p:nvPr/>
        </p:nvSpPr>
        <p:spPr>
          <a:xfrm>
            <a:off x="1778000" y="10198100"/>
            <a:ext cx="2082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推荐工具：LangChain RAG 框架 + FAISS 向量检索 + OpenAI/本地 LLM API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flip="none" rotWithShape="1">
          <a:gsLst>
            <a:gs pos="0">
              <a:srgbClr val="C7E2FF"/>
            </a:gs>
            <a:gs pos="50000">
              <a:srgbClr val="EAF4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21080" y="800989"/>
            <a:ext cx="11030712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EXPERIMENT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8158841" y="800989"/>
            <a:ext cx="5204079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9680" y="1524000"/>
            <a:ext cx="1143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 TASKS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1249680" y="2730500"/>
            <a:ext cx="8890000" cy="0"/>
          </a:xfrm>
          <a:prstGeom prst="line">
            <a:avLst/>
          </a:prstGeom>
          <a:noFill/>
          <a:ln w="19050">
            <a:solidFill>
              <a:srgbClr val="004AA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249680" y="2857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4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实验任务设计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348359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85077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0" name="Shape 7"/>
          <p:cNvSpPr/>
          <p:nvPr/>
        </p:nvSpPr>
        <p:spPr>
          <a:xfrm rot="5400000">
            <a:off x="2353056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1" name="Shape 8"/>
          <p:cNvSpPr/>
          <p:nvPr/>
        </p:nvSpPr>
        <p:spPr>
          <a:xfrm rot="5400000">
            <a:off x="285534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2" name="Shape 9"/>
          <p:cNvSpPr/>
          <p:nvPr/>
        </p:nvSpPr>
        <p:spPr>
          <a:xfrm rot="5400000">
            <a:off x="3357753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3" name="Shape 10"/>
          <p:cNvSpPr/>
          <p:nvPr/>
        </p:nvSpPr>
        <p:spPr>
          <a:xfrm rot="5400000">
            <a:off x="3860038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4" name="Shape 11"/>
          <p:cNvSpPr/>
          <p:nvPr/>
        </p:nvSpPr>
        <p:spPr>
          <a:xfrm>
            <a:off x="1371600" y="4699000"/>
            <a:ext cx="6667500" cy="3048000"/>
          </a:xfrm>
          <a:prstGeom prst="rect">
            <a:avLst/>
          </a:prstGeom>
          <a:solidFill>
            <a:srgbClr val="7EC8E3"/>
          </a:solidFill>
          <a:ln/>
        </p:spPr>
      </p:sp>
      <p:sp>
        <p:nvSpPr>
          <p:cNvPr id="15" name="Shape 12"/>
          <p:cNvSpPr/>
          <p:nvPr/>
        </p:nvSpPr>
        <p:spPr>
          <a:xfrm>
            <a:off x="1371600" y="4699000"/>
            <a:ext cx="6667500" cy="63500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16" name="Text 13"/>
          <p:cNvSpPr/>
          <p:nvPr/>
        </p:nvSpPr>
        <p:spPr>
          <a:xfrm>
            <a:off x="1651000" y="47371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A | 必做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651000" y="55245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恶意 / 良性分类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651000" y="6159500"/>
            <a:ext cx="609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二分类任务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输入：样本特征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输出：Malware / Benign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851900" y="4699000"/>
            <a:ext cx="6667500" cy="3048000"/>
          </a:xfrm>
          <a:prstGeom prst="rect">
            <a:avLst/>
          </a:prstGeom>
          <a:solidFill>
            <a:srgbClr val="BFE4FF"/>
          </a:solidFill>
          <a:ln/>
        </p:spPr>
      </p:sp>
      <p:sp>
        <p:nvSpPr>
          <p:cNvPr id="20" name="Shape 17"/>
          <p:cNvSpPr/>
          <p:nvPr/>
        </p:nvSpPr>
        <p:spPr>
          <a:xfrm>
            <a:off x="8851900" y="4699000"/>
            <a:ext cx="6667500" cy="635000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21" name="Text 18"/>
          <p:cNvSpPr/>
          <p:nvPr/>
        </p:nvSpPr>
        <p:spPr>
          <a:xfrm>
            <a:off x="9131300" y="47371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B | 选做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131300" y="55245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恶意家族识别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131300" y="6159500"/>
            <a:ext cx="609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多分类任务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输入：样本特征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输出：Adware/Trojan/Spyware...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6332200" y="4699000"/>
            <a:ext cx="6667500" cy="3048000"/>
          </a:xfrm>
          <a:prstGeom prst="rect">
            <a:avLst/>
          </a:prstGeom>
          <a:solidFill>
            <a:srgbClr val="7EC8E3"/>
          </a:solidFill>
          <a:ln/>
        </p:spPr>
      </p:sp>
      <p:sp>
        <p:nvSpPr>
          <p:cNvPr id="25" name="Shape 22"/>
          <p:cNvSpPr/>
          <p:nvPr/>
        </p:nvSpPr>
        <p:spPr>
          <a:xfrm>
            <a:off x="16332200" y="4699000"/>
            <a:ext cx="6667500" cy="635000"/>
          </a:xfrm>
          <a:prstGeom prst="rect">
            <a:avLst/>
          </a:prstGeom>
          <a:solidFill>
            <a:srgbClr val="48B2FF"/>
          </a:solidFill>
          <a:ln/>
        </p:spPr>
      </p:sp>
      <p:sp>
        <p:nvSpPr>
          <p:cNvPr id="26" name="Text 23"/>
          <p:cNvSpPr/>
          <p:nvPr/>
        </p:nvSpPr>
        <p:spPr>
          <a:xfrm>
            <a:off x="16611600" y="47371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C | 选做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6611600" y="55245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多标签行为识别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6611600" y="6159500"/>
            <a:ext cx="609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一个样本可能有多个恶意行为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输入：样本特征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输出：行为标签集合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371600" y="8128000"/>
            <a:ext cx="10160000" cy="1651000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30" name="Shape 27"/>
          <p:cNvSpPr/>
          <p:nvPr/>
        </p:nvSpPr>
        <p:spPr>
          <a:xfrm>
            <a:off x="1371600" y="8128000"/>
            <a:ext cx="101600" cy="165100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31" name="Text 28"/>
          <p:cNvSpPr/>
          <p:nvPr/>
        </p:nvSpPr>
        <p:spPr>
          <a:xfrm>
            <a:off x="1778000" y="825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D | 行为解释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778000" y="8826500"/>
            <a:ext cx="939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让 LLM 解释为什么判断为恶意，引用哪些特征和规则作为依据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2852400" y="8128000"/>
            <a:ext cx="10160000" cy="1651000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34" name="Shape 31"/>
          <p:cNvSpPr/>
          <p:nvPr/>
        </p:nvSpPr>
        <p:spPr>
          <a:xfrm>
            <a:off x="12852400" y="8128000"/>
            <a:ext cx="101600" cy="165100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35" name="Text 32"/>
          <p:cNvSpPr/>
          <p:nvPr/>
        </p:nvSpPr>
        <p:spPr>
          <a:xfrm>
            <a:off x="13258800" y="825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E | 规则改进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3258800" y="8826500"/>
            <a:ext cx="939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根据错误案例分析，发现规则库覆盖不足的地方并补充新规则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371600" y="10160000"/>
            <a:ext cx="21640800" cy="1524000"/>
          </a:xfrm>
          <a:prstGeom prst="rect">
            <a:avLst/>
          </a:prstGeom>
          <a:solidFill>
            <a:srgbClr val="004AAD"/>
          </a:solidFill>
          <a:ln/>
        </p:spPr>
      </p:sp>
      <p:sp>
        <p:nvSpPr>
          <p:cNvPr id="38" name="Text 35"/>
          <p:cNvSpPr/>
          <p:nvPr/>
        </p:nvSpPr>
        <p:spPr>
          <a:xfrm>
            <a:off x="1778000" y="10350500"/>
            <a:ext cx="2082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每组至少完成 2 个任务：必做 Task A（分类或多标签识别）+ 选做 Task B/C/D/E 中任一项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rgbClr val="C7E2FF"/>
            </a:gs>
            <a:gs pos="50000">
              <a:srgbClr val="EAF4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21080" y="800989"/>
            <a:ext cx="11030712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EXPERIMENT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8158841" y="800989"/>
            <a:ext cx="5204079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9680" y="1524000"/>
            <a:ext cx="1143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ABLATION STUDY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1249680" y="2730500"/>
            <a:ext cx="8890000" cy="0"/>
          </a:xfrm>
          <a:prstGeom prst="line">
            <a:avLst/>
          </a:prstGeom>
          <a:noFill/>
          <a:ln w="19050">
            <a:solidFill>
              <a:srgbClr val="004AA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249680" y="2857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4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对比与消融实验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348359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85077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0" name="Shape 7"/>
          <p:cNvSpPr/>
          <p:nvPr/>
        </p:nvSpPr>
        <p:spPr>
          <a:xfrm rot="5400000">
            <a:off x="2353056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1" name="Shape 8"/>
          <p:cNvSpPr/>
          <p:nvPr/>
        </p:nvSpPr>
        <p:spPr>
          <a:xfrm rot="5400000">
            <a:off x="285534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2" name="Shape 9"/>
          <p:cNvSpPr/>
          <p:nvPr/>
        </p:nvSpPr>
        <p:spPr>
          <a:xfrm rot="5400000">
            <a:off x="3357753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3" name="Shape 10"/>
          <p:cNvSpPr/>
          <p:nvPr/>
        </p:nvSpPr>
        <p:spPr>
          <a:xfrm rot="5400000">
            <a:off x="3860038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582252"/>
              </p:ext>
            </p:extLst>
          </p:nvPr>
        </p:nvGraphicFramePr>
        <p:xfrm>
          <a:off x="1371600" y="4699000"/>
          <a:ext cx="21640800" cy="3809999"/>
        </p:xfrm>
        <a:graphic>
          <a:graphicData uri="http://schemas.openxmlformats.org/drawingml/2006/table">
            <a:tbl>
              <a:tblPr/>
              <a:tblGrid>
                <a:gridCol w="4760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3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33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133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133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8094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Method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Accuracy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Precision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Recall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F1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解释质量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难度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381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 </a:t>
                      </a:r>
                      <a:r>
                        <a:rPr lang="en-US" sz="2200" u="none" dirty="0" err="1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传统</a:t>
                      </a:r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ML/NN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基线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381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 LLM-only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★★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低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381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3. RAG + LLM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★★★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中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381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4. Core-set + RAG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★★★★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高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381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 + Rules (完整)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?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★★★★★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高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1371600" y="8890000"/>
            <a:ext cx="21640800" cy="3048000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16" name="Text 12"/>
          <p:cNvSpPr/>
          <p:nvPr/>
        </p:nvSpPr>
        <p:spPr>
          <a:xfrm>
            <a:off x="1778000" y="90805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实验要求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778000" y="9779000"/>
            <a:ext cx="990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必做：</a:t>
            </a: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完成方法 1/2/3 的对比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进阶：</a:t>
            </a: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加入方法 4（Core-set 对比）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高阶：</a:t>
            </a: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完成全部 5 组消融实验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2192000" y="9779000"/>
            <a:ext cx="1041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关键问题：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RAG 是否提升了准确率？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规则库是否改善了可解释性？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Core-set 是否优于 Random？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1">
          <a:gsLst>
            <a:gs pos="0">
              <a:srgbClr val="C7E2FF"/>
            </a:gs>
            <a:gs pos="50000">
              <a:srgbClr val="EAF4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21080" y="800989"/>
            <a:ext cx="11030712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EXPERIMENT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8158841" y="800989"/>
            <a:ext cx="5204079" cy="63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930" kern="0" spc="416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9680" y="1524000"/>
            <a:ext cx="1143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&amp; GRADING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1249680" y="2730500"/>
            <a:ext cx="8890000" cy="0"/>
          </a:xfrm>
          <a:prstGeom prst="line">
            <a:avLst/>
          </a:prstGeom>
          <a:noFill/>
          <a:ln w="19050">
            <a:solidFill>
              <a:srgbClr val="004AAD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249680" y="2857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4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实验报告与评分标准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348359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85077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0" name="Shape 7"/>
          <p:cNvSpPr/>
          <p:nvPr/>
        </p:nvSpPr>
        <p:spPr>
          <a:xfrm rot="5400000">
            <a:off x="2353056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1" name="Shape 8"/>
          <p:cNvSpPr/>
          <p:nvPr/>
        </p:nvSpPr>
        <p:spPr>
          <a:xfrm rot="5400000">
            <a:off x="2855341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2" name="Shape 9"/>
          <p:cNvSpPr/>
          <p:nvPr/>
        </p:nvSpPr>
        <p:spPr>
          <a:xfrm rot="5400000">
            <a:off x="3357753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3" name="Shape 10"/>
          <p:cNvSpPr/>
          <p:nvPr/>
        </p:nvSpPr>
        <p:spPr>
          <a:xfrm rot="5400000">
            <a:off x="3860038" y="3937000"/>
            <a:ext cx="371348" cy="324866"/>
          </a:xfrm>
          <a:prstGeom prst="triangle">
            <a:avLst>
              <a:gd name="adj" fmla="val 50000"/>
            </a:avLst>
          </a:prstGeom>
          <a:solidFill>
            <a:srgbClr val="004AAD"/>
          </a:solidFill>
          <a:ln/>
        </p:spPr>
      </p:sp>
      <p:sp>
        <p:nvSpPr>
          <p:cNvPr id="14" name="Text 11"/>
          <p:cNvSpPr/>
          <p:nvPr/>
        </p:nvSpPr>
        <p:spPr>
          <a:xfrm>
            <a:off x="1371600" y="4699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提交物清单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1600" y="5334000"/>
            <a:ext cx="10160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☑ data_analysis.ipynb — 数据分析与可视化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☑ rules.csv — 安全规则知识库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☑ prompt.md — LLM Prompt 模板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☑ results.xlsx — 实验结果对比表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☑ figures/ — 实验图表文件夹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☑ report.pdf — 结构化实验报告</a:t>
            </a:r>
            <a:endParaRPr lang="en-US" sz="1600"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683283"/>
              </p:ext>
            </p:extLst>
          </p:nvPr>
        </p:nvGraphicFramePr>
        <p:xfrm>
          <a:off x="12192000" y="4699000"/>
          <a:ext cx="10795000" cy="3060701"/>
        </p:xfrm>
        <a:graphic>
          <a:graphicData uri="http://schemas.openxmlformats.org/drawingml/2006/table">
            <a:tbl>
              <a:tblPr/>
              <a:tblGrid>
                <a:gridCol w="593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3881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评分项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占比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364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数据理解与预处理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15%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364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规则知识库设计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20%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364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RAG / Prompt 设计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20%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364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实验对比与消融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20%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364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报告分析与反思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25%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E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1371600" y="8636000"/>
            <a:ext cx="21640800" cy="3302000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18" name="Text 14"/>
          <p:cNvSpPr/>
          <p:nvPr/>
        </p:nvSpPr>
        <p:spPr>
          <a:xfrm>
            <a:off x="1778000" y="8826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4A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实验报告结构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778000" y="9461500"/>
            <a:ext cx="2082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实验目的 → 2. 数据集说明 → 3. 方法设计 → 4. Prompt 与规则库 → 5. 对比实验结果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结果分析 → 7. </a:t>
            </a:r>
            <a:r>
              <a:rPr lang="en-US" sz="2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错误案例分析（重点）</a:t>
            </a: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8. </a:t>
            </a:r>
            <a:r>
              <a:rPr lang="en-US" sz="2200" dirty="0" err="1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改进方向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987</Words>
  <Application>Microsoft Office PowerPoint</Application>
  <PresentationFormat>自定义</PresentationFormat>
  <Paragraphs>274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Quattrocento Sans</vt:lpstr>
      <vt:lpstr>Liter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实验课：基于 RAG 增强大语言模型的 Android 恶意软件分析实验</dc:title>
  <dc:subject>实验课：基于 RAG 增强大语言模型的 Android 恶意软件分析实验</dc:subject>
  <dc:creator>Kimi</dc:creator>
  <cp:lastModifiedBy>yude bai</cp:lastModifiedBy>
  <cp:revision>18</cp:revision>
  <dcterms:created xsi:type="dcterms:W3CDTF">2026-05-06T10:34:26Z</dcterms:created>
  <dcterms:modified xsi:type="dcterms:W3CDTF">2026-05-06T13:44:18Z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{"Label":"实验课：基于 RAG 增强大语言模型的 Android 恶意软件分析实验","ContentProducer":"001191110108MACG2KBH8F10000","ProduceID":"19dfcd54-d712-8906-8000-000081e40755","ReservedCode1":"","ContentPropagator":"001191110108MACG2KBH8F20000","PropagateID":"19dfcd54-d712-8906-8000-000081e40755","ReservedCode2":""}</vt:lpwstr>
  </property>
</Properties>
</file>